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Montserrat"/>
      <p:regular r:id="rId18"/>
      <p:bold r:id="rId19"/>
      <p:italic r:id="rId20"/>
      <p:boldItalic r:id="rId21"/>
    </p:embeddedFont>
    <p:embeddedFont>
      <p:font typeface="Lato"/>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italic.fntdata"/><Relationship Id="rId22" Type="http://schemas.openxmlformats.org/officeDocument/2006/relationships/font" Target="fonts/Lato-regular.fntdata"/><Relationship Id="rId21" Type="http://schemas.openxmlformats.org/officeDocument/2006/relationships/font" Target="fonts/Montserrat-boldItalic.fntdata"/><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a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Montserrat-bold.fntdata"/><Relationship Id="rId1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dda_intro: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dda_intro: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Vision globale du projet, d’après le schéma fourni par l’utilisateur : application mobile sur téléphone, ordinateur et Raspberry Pi avec webcam comme sources de données. Un serveur commun coordonne l’analyse, la base de données et les retours vers les interfaces. Le prototype PC est la première piste testée, pas la totalité du projet. Mobile, Raspberry Pi, serveur et monitoring représentent l’architecture envisagée.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dda_sommair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dda_sommair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Présenter d’abord le besoin, puis trois approches distinctes : intégrer un modèle préentraîné, entraîner notre propre modèle, développer un algorithme sans apprentissage. Terminer par les critères communs d’évaluation.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dda_part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dda_part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dda_vision: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dda_vision: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Téléphone : application mobile, captures et extraction des points du corps, avec ML Kit comme piste. Ordinateur : captures webcam pendant le travail et suivi du buste. Raspberry Pi : webcam dédiée, captures et extraction envisagée ; ressources et cadence à mesurer avant de confirmer le traitement local. Définir un format commun de points, angles, horodatage et confiance. ML Kit Pose Detection est une API Android/iOS en bêta ; elle repère les articulations mais n’évalue pas directement une bonne posture. Source : https://developers.google.com/ml-kit/vision/pose-detection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dda_architecture: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dda_architecture: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Schéma éditable synthétisant l’architecture cible fournie par l’utilisateur. Les sources envoient les points corporels au serveur. Le serveur sollicite l’algorithme ou l’IA, reçoit les résultats, enregistre les mesures en base et alimente les interfaces. Le stockage S3 contient les images liées à l’utilisateur, avec accès réservé aux personnes autorisées. La répartition exacte entre extraction locale et serveur reste à expérimenter. Ces composants ne sont pas présentés comme déjà implémentés.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dda_retour: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dda_retour: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Fonctions visées : résultat de l’analyse dans les applications mobile et PC, explications, historique et conseils de repositionnement ou d’exercice à définir et à valider. Le web de monitoring présente le nombre de positions analysées, la répartition des résultats et la relecture des cas. Les taux de positions prédites correctes ou incorrectes ne prouvent pas la précision : l’évaluation des erreurs exige des annotations de référence.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dda_part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dda_part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dda_pretrained: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dda_pretrained: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Piste 1 : réutiliser un modèle préentraîné pour extraire le squelette. MediaPipe est utilisé dans le prototype PC ; ML Kit est une piste mobile. L’analyse de posture reste une étape distincte, confiée à des règles ou à notre IA. Comparer la stabilité et la qualité des points selon la source. Sources : https://developers.google.com/edge/mediapipe/solutions/vision/pose_landmarker et https://developers.google.com/ml-kit/vision/pose-detection. Illustration schématique sans résultat expérimental.</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dda_training: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dda_training: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Piste 2 : entraîner notre IA d’analyse sur des postures annotées. Première expérience possible : utiliser les points et angles comme entrées et apprendre des catégories de positions définies avec une référence explicite. Le type de modèle et les catégories restent à préciser. Séparer entraînement et test par personne et par séquence. L’entraînement de notre propre détecteur de points à partir d’images reste une piste supplémentaire. L’illustration montre le principe de l’apprentissage, pas un réseau arrêté ni une mesure de performance.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dda_algorithm: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dda_algorithm: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Piste 3 : développer notre algorithme de suivi et nos règles géométriques. Pour un prototype sans IA, l’utilisateur accepte des repères colorés : seuillage HSV, contours, centres et angles avec OpenCV. Dans la cible globale, les règles peuvent aussi interpréter un squelette provenant d’un détecteur existant ; cette chaîne utilise alors de l’IA pour l’extraction, contrairement au prototype à marqueurs. Les seuils, explications et conseils restent à définir et évaluer. Sources : https://docs.opencv.org/4.x/da/d97/tutorial_threshold_inRange.html et https://docs.opencv.org/4.x/dd/d49/tutorial_py_contour_features.html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dda_part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dda_part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dda_comparaison: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dda_comparaison: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Deux axes de recherche : comparer les sources (mobile, PC, Raspberry Pi) et les méthodes de détection ou d’analyse. D’abord les mêmes séquences et annotations pour comparer les méthodes, puis un protocole commun sur chaque source. Mesurer précision des points, stabilité, pertes de suivi, temps de calcul et délai réseau jusqu’au retour utilisateur. Pour la classification de posture, comparer les décisions aux catégories de référence. Documenter le matériel et les contraintes, notamment les marqueurs, sans annoncer de résultats avant les essais.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157"/>
            <a:ext cx="1649186" cy="1642760"/>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762000" y="1778000"/>
            <a:ext cx="4508400" cy="1168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5200">
                <a:solidFill>
                  <a:srgbClr val="FFFFFF"/>
                </a:solidFill>
              </a:rPr>
              <a:t>Dos d’âne</a:t>
            </a:r>
            <a:endParaRPr b="1" sz="5200">
              <a:solidFill>
                <a:srgbClr val="FFFFFF"/>
              </a:solidFill>
            </a:endParaRPr>
          </a:p>
        </p:txBody>
      </p:sp>
      <p:sp>
        <p:nvSpPr>
          <p:cNvPr id="135" name="Google Shape;135;p13"/>
          <p:cNvSpPr txBox="1"/>
          <p:nvPr>
            <p:ph idx="1" type="subTitle"/>
          </p:nvPr>
        </p:nvSpPr>
        <p:spPr>
          <a:xfrm>
            <a:off x="825500" y="3073400"/>
            <a:ext cx="3873600" cy="1066800"/>
          </a:xfrm>
          <a:prstGeom prst="rect">
            <a:avLst/>
          </a:prstGeom>
        </p:spPr>
        <p:txBody>
          <a:bodyPr anchorCtr="0" anchor="t" bIns="91425" lIns="91425" spcFirstLastPara="1" rIns="91425" wrap="square" tIns="91425">
            <a:noAutofit/>
          </a:bodyPr>
          <a:lstStyle/>
          <a:p>
            <a:pPr indent="0" lvl="0" marL="0" rtl="0" algn="l">
              <a:lnSpc>
                <a:spcPct val="110000"/>
              </a:lnSpc>
              <a:spcBef>
                <a:spcPts val="0"/>
              </a:spcBef>
              <a:spcAft>
                <a:spcPts val="0"/>
              </a:spcAft>
              <a:buSzPts val="688"/>
              <a:buNone/>
            </a:pPr>
            <a:r>
              <a:rPr lang="fr" sz="2500">
                <a:solidFill>
                  <a:srgbClr val="83C7A5"/>
                </a:solidFill>
              </a:rPr>
              <a:t>Observer la posture</a:t>
            </a:r>
            <a:endParaRPr sz="2500">
              <a:solidFill>
                <a:srgbClr val="83C7A5"/>
              </a:solidFill>
            </a:endParaRPr>
          </a:p>
          <a:p>
            <a:pPr indent="0" lvl="0" marL="0" rtl="0" algn="l">
              <a:lnSpc>
                <a:spcPct val="110000"/>
              </a:lnSpc>
              <a:spcBef>
                <a:spcPts val="0"/>
              </a:spcBef>
              <a:spcAft>
                <a:spcPts val="0"/>
              </a:spcAft>
              <a:buSzPts val="688"/>
              <a:buNone/>
            </a:pPr>
            <a:r>
              <a:rPr lang="fr" sz="2500">
                <a:solidFill>
                  <a:srgbClr val="83C7A5"/>
                </a:solidFill>
              </a:rPr>
              <a:t>au bureau</a:t>
            </a:r>
            <a:endParaRPr sz="2500">
              <a:solidFill>
                <a:srgbClr val="83C7A5"/>
              </a:solidFill>
            </a:endParaRPr>
          </a:p>
        </p:txBody>
      </p:sp>
      <p:sp>
        <p:nvSpPr>
          <p:cNvPr id="136" name="Google Shape;136;p13"/>
          <p:cNvSpPr txBox="1"/>
          <p:nvPr/>
        </p:nvSpPr>
        <p:spPr>
          <a:xfrm>
            <a:off x="825500" y="1397000"/>
            <a:ext cx="38100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200">
                <a:solidFill>
                  <a:srgbClr val="83C7A5"/>
                </a:solidFill>
                <a:latin typeface="Lato"/>
                <a:ea typeface="Lato"/>
                <a:cs typeface="Lato"/>
                <a:sym typeface="Lato"/>
              </a:rPr>
              <a:t>PROJET DE RECHERCHE</a:t>
            </a:r>
            <a:endParaRPr sz="1200">
              <a:solidFill>
                <a:srgbClr val="83C7A5"/>
              </a:solidFill>
              <a:latin typeface="Lato"/>
              <a:ea typeface="Lato"/>
              <a:cs typeface="Lato"/>
              <a:sym typeface="Lato"/>
            </a:endParaRPr>
          </a:p>
        </p:txBody>
      </p:sp>
      <p:sp>
        <p:nvSpPr>
          <p:cNvPr id="137" name="Google Shape;137;p13"/>
          <p:cNvSpPr txBox="1"/>
          <p:nvPr/>
        </p:nvSpPr>
        <p:spPr>
          <a:xfrm>
            <a:off x="825500" y="4495800"/>
            <a:ext cx="4064100" cy="3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rgbClr val="CAD3DF"/>
                </a:solidFill>
                <a:latin typeface="Lato"/>
                <a:ea typeface="Lato"/>
                <a:cs typeface="Lato"/>
                <a:sym typeface="Lato"/>
              </a:rPr>
              <a:t>Mobile, ordinateur et Raspberry Pi</a:t>
            </a:r>
            <a:endParaRPr>
              <a:solidFill>
                <a:srgbClr val="CAD3DF"/>
              </a:solidFill>
              <a:latin typeface="Lato"/>
              <a:ea typeface="Lato"/>
              <a:cs typeface="Lato"/>
              <a:sym typeface="Lato"/>
            </a:endParaRPr>
          </a:p>
        </p:txBody>
      </p:sp>
      <p:pic>
        <p:nvPicPr>
          <p:cNvPr id="138" name="Google Shape;138;p13"/>
          <p:cNvPicPr preferRelativeResize="0"/>
          <p:nvPr/>
        </p:nvPicPr>
        <p:blipFill>
          <a:blip r:embed="rId3">
            <a:alphaModFix/>
          </a:blip>
          <a:stretch>
            <a:fillRect/>
          </a:stretch>
        </p:blipFill>
        <p:spPr>
          <a:xfrm>
            <a:off x="5054600" y="1041400"/>
            <a:ext cx="4000501" cy="4000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363700" y="359875"/>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a:t>Sommaire</a:t>
            </a:r>
            <a:endParaRPr b="1"/>
          </a:p>
        </p:txBody>
      </p:sp>
      <p:sp>
        <p:nvSpPr>
          <p:cNvPr id="144" name="Google Shape;144;p14"/>
          <p:cNvSpPr txBox="1"/>
          <p:nvPr/>
        </p:nvSpPr>
        <p:spPr>
          <a:xfrm>
            <a:off x="1143000" y="1549400"/>
            <a:ext cx="6222900" cy="30480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fr" sz="2600">
                <a:solidFill>
                  <a:srgbClr val="FFFFFF"/>
                </a:solidFill>
                <a:latin typeface="Lato"/>
                <a:ea typeface="Lato"/>
                <a:cs typeface="Lato"/>
                <a:sym typeface="Lato"/>
              </a:rPr>
              <a:t>Notre vision du projet</a:t>
            </a:r>
            <a:endParaRPr sz="2600">
              <a:solidFill>
                <a:srgbClr val="FFFFFF"/>
              </a:solidFill>
              <a:latin typeface="Lato"/>
              <a:ea typeface="Lato"/>
              <a:cs typeface="Lato"/>
              <a:sym typeface="Lato"/>
            </a:endParaRPr>
          </a:p>
          <a:p>
            <a:pPr indent="0" lvl="0" marL="0" marR="0" rtl="0" algn="l">
              <a:lnSpc>
                <a:spcPct val="110000"/>
              </a:lnSpc>
              <a:spcBef>
                <a:spcPts val="3200"/>
              </a:spcBef>
              <a:spcAft>
                <a:spcPts val="0"/>
              </a:spcAft>
              <a:buNone/>
            </a:pPr>
            <a:r>
              <a:rPr lang="fr" sz="2600">
                <a:solidFill>
                  <a:srgbClr val="FFFFFF"/>
                </a:solidFill>
                <a:latin typeface="Lato"/>
                <a:ea typeface="Lato"/>
                <a:cs typeface="Lato"/>
                <a:sym typeface="Lato"/>
              </a:rPr>
              <a:t>Les pistes de recherche</a:t>
            </a:r>
            <a:endParaRPr sz="2600">
              <a:solidFill>
                <a:srgbClr val="FFFFFF"/>
              </a:solidFill>
              <a:latin typeface="Lato"/>
              <a:ea typeface="Lato"/>
              <a:cs typeface="Lato"/>
              <a:sym typeface="Lato"/>
            </a:endParaRPr>
          </a:p>
          <a:p>
            <a:pPr indent="0" lvl="0" marL="0" marR="0" rtl="0" algn="l">
              <a:lnSpc>
                <a:spcPct val="110000"/>
              </a:lnSpc>
              <a:spcBef>
                <a:spcPts val="3200"/>
              </a:spcBef>
              <a:spcAft>
                <a:spcPts val="3200"/>
              </a:spcAft>
              <a:buNone/>
            </a:pPr>
            <a:r>
              <a:rPr lang="fr" sz="2600">
                <a:solidFill>
                  <a:srgbClr val="FFFFFF"/>
                </a:solidFill>
                <a:latin typeface="Lato"/>
                <a:ea typeface="Lato"/>
                <a:cs typeface="Lato"/>
                <a:sym typeface="Lato"/>
              </a:rPr>
              <a:t>Les essais à mener</a:t>
            </a:r>
            <a:endParaRPr sz="2600">
              <a:solidFill>
                <a:srgbClr val="FFFFFF"/>
              </a:solidFill>
              <a:latin typeface="Lato"/>
              <a:ea typeface="Lato"/>
              <a:cs typeface="Lato"/>
              <a:sym typeface="Lato"/>
            </a:endParaRPr>
          </a:p>
        </p:txBody>
      </p:sp>
      <p:sp>
        <p:nvSpPr>
          <p:cNvPr id="145" name="Google Shape;145;p14"/>
          <p:cNvSpPr txBox="1"/>
          <p:nvPr/>
        </p:nvSpPr>
        <p:spPr>
          <a:xfrm>
            <a:off x="406400" y="1549400"/>
            <a:ext cx="6351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2700">
                <a:solidFill>
                  <a:srgbClr val="83C7A5"/>
                </a:solidFill>
                <a:latin typeface="Lato"/>
                <a:ea typeface="Lato"/>
                <a:cs typeface="Lato"/>
                <a:sym typeface="Lato"/>
              </a:rPr>
              <a:t>01</a:t>
            </a:r>
            <a:endParaRPr sz="2700">
              <a:solidFill>
                <a:srgbClr val="83C7A5"/>
              </a:solidFill>
              <a:latin typeface="Lato"/>
              <a:ea typeface="Lato"/>
              <a:cs typeface="Lato"/>
              <a:sym typeface="Lato"/>
            </a:endParaRPr>
          </a:p>
        </p:txBody>
      </p:sp>
      <p:sp>
        <p:nvSpPr>
          <p:cNvPr id="146" name="Google Shape;146;p14"/>
          <p:cNvSpPr txBox="1"/>
          <p:nvPr/>
        </p:nvSpPr>
        <p:spPr>
          <a:xfrm>
            <a:off x="406400" y="2349500"/>
            <a:ext cx="6351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2700">
                <a:solidFill>
                  <a:srgbClr val="82A9FF"/>
                </a:solidFill>
                <a:latin typeface="Lato"/>
                <a:ea typeface="Lato"/>
                <a:cs typeface="Lato"/>
                <a:sym typeface="Lato"/>
              </a:rPr>
              <a:t>02</a:t>
            </a:r>
            <a:endParaRPr sz="2700">
              <a:solidFill>
                <a:srgbClr val="82A9FF"/>
              </a:solidFill>
              <a:latin typeface="Lato"/>
              <a:ea typeface="Lato"/>
              <a:cs typeface="Lato"/>
              <a:sym typeface="Lato"/>
            </a:endParaRPr>
          </a:p>
        </p:txBody>
      </p:sp>
      <p:sp>
        <p:nvSpPr>
          <p:cNvPr id="147" name="Google Shape;147;p14"/>
          <p:cNvSpPr txBox="1"/>
          <p:nvPr/>
        </p:nvSpPr>
        <p:spPr>
          <a:xfrm>
            <a:off x="406400" y="3149600"/>
            <a:ext cx="6351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2700">
                <a:solidFill>
                  <a:srgbClr val="F0BA62"/>
                </a:solidFill>
                <a:latin typeface="Lato"/>
                <a:ea typeface="Lato"/>
                <a:cs typeface="Lato"/>
                <a:sym typeface="Lato"/>
              </a:rPr>
              <a:t>03</a:t>
            </a:r>
            <a:endParaRPr sz="2700">
              <a:solidFill>
                <a:srgbClr val="F0BA62"/>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459B"/>
        </a:solidFill>
      </p:bgPr>
    </p:bg>
    <p:spTree>
      <p:nvGrpSpPr>
        <p:cNvPr id="151" name="Shape 151"/>
        <p:cNvGrpSpPr/>
        <p:nvPr/>
      </p:nvGrpSpPr>
      <p:grpSpPr>
        <a:xfrm>
          <a:off x="0" y="0"/>
          <a:ext cx="0" cy="0"/>
          <a:chOff x="0" y="0"/>
          <a:chExt cx="0" cy="0"/>
        </a:xfrm>
      </p:grpSpPr>
      <p:sp>
        <p:nvSpPr>
          <p:cNvPr id="152" name="Google Shape;152;p15"/>
          <p:cNvSpPr txBox="1"/>
          <p:nvPr>
            <p:ph type="title"/>
          </p:nvPr>
        </p:nvSpPr>
        <p:spPr>
          <a:xfrm>
            <a:off x="571500" y="2476500"/>
            <a:ext cx="5778600" cy="1625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3800">
                <a:solidFill>
                  <a:srgbClr val="FFFFFF"/>
                </a:solidFill>
              </a:rPr>
              <a:t>Notre vision</a:t>
            </a:r>
            <a:endParaRPr b="1" sz="3800">
              <a:solidFill>
                <a:srgbClr val="FFFFFF"/>
              </a:solidFill>
            </a:endParaRPr>
          </a:p>
        </p:txBody>
      </p:sp>
      <p:sp>
        <p:nvSpPr>
          <p:cNvPr id="153" name="Google Shape;153;p15"/>
          <p:cNvSpPr txBox="1"/>
          <p:nvPr/>
        </p:nvSpPr>
        <p:spPr>
          <a:xfrm>
            <a:off x="571500" y="609600"/>
            <a:ext cx="2857500" cy="172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0000">
                <a:solidFill>
                  <a:srgbClr val="FFFFFF"/>
                </a:solidFill>
                <a:latin typeface="Lato"/>
                <a:ea typeface="Lato"/>
                <a:cs typeface="Lato"/>
                <a:sym typeface="Lato"/>
              </a:rPr>
              <a:t>01</a:t>
            </a:r>
            <a:endParaRPr sz="10000">
              <a:solidFill>
                <a:srgbClr val="FFFFFF"/>
              </a:solidFill>
              <a:latin typeface="Lato"/>
              <a:ea typeface="Lato"/>
              <a:cs typeface="Lato"/>
              <a:sym typeface="Lato"/>
            </a:endParaRPr>
          </a:p>
        </p:txBody>
      </p:sp>
      <p:sp>
        <p:nvSpPr>
          <p:cNvPr id="154" name="Google Shape;154;p15"/>
          <p:cNvSpPr txBox="1"/>
          <p:nvPr/>
        </p:nvSpPr>
        <p:spPr>
          <a:xfrm>
            <a:off x="609600" y="4343400"/>
            <a:ext cx="54609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700">
                <a:solidFill>
                  <a:srgbClr val="FFFFFF"/>
                </a:solidFill>
                <a:latin typeface="Lato"/>
                <a:ea typeface="Lato"/>
                <a:cs typeface="Lato"/>
                <a:sym typeface="Lato"/>
              </a:rPr>
              <a:t>Plusieurs sources de données, un suivi commun</a:t>
            </a:r>
            <a:endParaRPr sz="1700">
              <a:solidFill>
                <a:srgbClr val="FFFFFF"/>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1297500" y="393750"/>
            <a:ext cx="70389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2700">
                <a:solidFill>
                  <a:srgbClr val="FFFFFF"/>
                </a:solidFill>
              </a:rPr>
              <a:t>Plusieurs sources de données</a:t>
            </a:r>
            <a:endParaRPr b="1" sz="2700">
              <a:solidFill>
                <a:srgbClr val="FFFFFF"/>
              </a:solidFill>
            </a:endParaRPr>
          </a:p>
        </p:txBody>
      </p:sp>
      <p:sp>
        <p:nvSpPr>
          <p:cNvPr id="160" name="Google Shape;160;p16"/>
          <p:cNvSpPr txBox="1"/>
          <p:nvPr/>
        </p:nvSpPr>
        <p:spPr>
          <a:xfrm>
            <a:off x="571500" y="1752600"/>
            <a:ext cx="27939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600">
                <a:solidFill>
                  <a:srgbClr val="83C7A5"/>
                </a:solidFill>
                <a:latin typeface="Lato"/>
                <a:ea typeface="Lato"/>
                <a:cs typeface="Lato"/>
                <a:sym typeface="Lato"/>
              </a:rPr>
              <a:t>Téléphone</a:t>
            </a:r>
            <a:endParaRPr b="1" sz="2600">
              <a:solidFill>
                <a:srgbClr val="83C7A5"/>
              </a:solidFill>
              <a:latin typeface="Lato"/>
              <a:ea typeface="Lato"/>
              <a:cs typeface="Lato"/>
              <a:sym typeface="Lato"/>
            </a:endParaRPr>
          </a:p>
        </p:txBody>
      </p:sp>
      <p:sp>
        <p:nvSpPr>
          <p:cNvPr id="161" name="Google Shape;161;p16"/>
          <p:cNvSpPr txBox="1"/>
          <p:nvPr/>
        </p:nvSpPr>
        <p:spPr>
          <a:xfrm>
            <a:off x="571500" y="2565400"/>
            <a:ext cx="2692500" cy="13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rgbClr val="FFFFFF"/>
                </a:solidFill>
                <a:latin typeface="Lato"/>
                <a:ea typeface="Lato"/>
                <a:cs typeface="Lato"/>
                <a:sym typeface="Lato"/>
              </a:rPr>
              <a:t>Application mobile</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Photos et points du corps</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ML Kit à tester</a:t>
            </a:r>
            <a:endParaRPr sz="1800">
              <a:solidFill>
                <a:srgbClr val="FFFFFF"/>
              </a:solidFill>
              <a:latin typeface="Lato"/>
              <a:ea typeface="Lato"/>
              <a:cs typeface="Lato"/>
              <a:sym typeface="Lato"/>
            </a:endParaRPr>
          </a:p>
        </p:txBody>
      </p:sp>
      <p:sp>
        <p:nvSpPr>
          <p:cNvPr id="162" name="Google Shape;162;p16"/>
          <p:cNvSpPr txBox="1"/>
          <p:nvPr/>
        </p:nvSpPr>
        <p:spPr>
          <a:xfrm>
            <a:off x="3429000" y="1752600"/>
            <a:ext cx="27939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600">
                <a:solidFill>
                  <a:srgbClr val="82A9FF"/>
                </a:solidFill>
                <a:latin typeface="Lato"/>
                <a:ea typeface="Lato"/>
                <a:cs typeface="Lato"/>
                <a:sym typeface="Lato"/>
              </a:rPr>
              <a:t>Ordinateur</a:t>
            </a:r>
            <a:endParaRPr b="1" sz="2600">
              <a:solidFill>
                <a:srgbClr val="82A9FF"/>
              </a:solidFill>
              <a:latin typeface="Lato"/>
              <a:ea typeface="Lato"/>
              <a:cs typeface="Lato"/>
              <a:sym typeface="Lato"/>
            </a:endParaRPr>
          </a:p>
        </p:txBody>
      </p:sp>
      <p:sp>
        <p:nvSpPr>
          <p:cNvPr id="163" name="Google Shape;163;p16"/>
          <p:cNvSpPr txBox="1"/>
          <p:nvPr/>
        </p:nvSpPr>
        <p:spPr>
          <a:xfrm>
            <a:off x="3429000" y="2565400"/>
            <a:ext cx="2692500" cy="13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rgbClr val="FFFFFF"/>
                </a:solidFill>
                <a:latin typeface="Lato"/>
                <a:ea typeface="Lato"/>
                <a:cs typeface="Lato"/>
                <a:sym typeface="Lato"/>
              </a:rPr>
              <a:t>Webcam du poste de travail</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Captures régulières</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Suivi du buste</a:t>
            </a:r>
            <a:endParaRPr sz="1800">
              <a:solidFill>
                <a:srgbClr val="FFFFFF"/>
              </a:solidFill>
              <a:latin typeface="Lato"/>
              <a:ea typeface="Lato"/>
              <a:cs typeface="Lato"/>
              <a:sym typeface="Lato"/>
            </a:endParaRPr>
          </a:p>
        </p:txBody>
      </p:sp>
      <p:sp>
        <p:nvSpPr>
          <p:cNvPr id="164" name="Google Shape;164;p16"/>
          <p:cNvSpPr txBox="1"/>
          <p:nvPr/>
        </p:nvSpPr>
        <p:spPr>
          <a:xfrm>
            <a:off x="6286500" y="1752600"/>
            <a:ext cx="2793900" cy="54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600">
                <a:solidFill>
                  <a:srgbClr val="F0BA62"/>
                </a:solidFill>
                <a:latin typeface="Lato"/>
                <a:ea typeface="Lato"/>
                <a:cs typeface="Lato"/>
                <a:sym typeface="Lato"/>
              </a:rPr>
              <a:t>Raspberry Pi</a:t>
            </a:r>
            <a:endParaRPr b="1" sz="2600">
              <a:solidFill>
                <a:srgbClr val="F0BA62"/>
              </a:solidFill>
              <a:latin typeface="Lato"/>
              <a:ea typeface="Lato"/>
              <a:cs typeface="Lato"/>
              <a:sym typeface="Lato"/>
            </a:endParaRPr>
          </a:p>
        </p:txBody>
      </p:sp>
      <p:sp>
        <p:nvSpPr>
          <p:cNvPr id="165" name="Google Shape;165;p16"/>
          <p:cNvSpPr txBox="1"/>
          <p:nvPr/>
        </p:nvSpPr>
        <p:spPr>
          <a:xfrm>
            <a:off x="6286500" y="2565400"/>
            <a:ext cx="2692500" cy="135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rgbClr val="FFFFFF"/>
                </a:solidFill>
                <a:latin typeface="Lato"/>
                <a:ea typeface="Lato"/>
                <a:cs typeface="Lato"/>
                <a:sym typeface="Lato"/>
              </a:rPr>
              <a:t>Webcam dédiée</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Captures et extraction</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Envoi des données</a:t>
            </a:r>
            <a:endParaRPr sz="1800">
              <a:solidFill>
                <a:srgbClr val="FFFFFF"/>
              </a:solidFill>
              <a:latin typeface="Lato"/>
              <a:ea typeface="Lato"/>
              <a:cs typeface="Lato"/>
              <a:sym typeface="Lato"/>
            </a:endParaRPr>
          </a:p>
        </p:txBody>
      </p:sp>
      <p:sp>
        <p:nvSpPr>
          <p:cNvPr id="166" name="Google Shape;166;p16"/>
          <p:cNvSpPr txBox="1"/>
          <p:nvPr/>
        </p:nvSpPr>
        <p:spPr>
          <a:xfrm>
            <a:off x="571500" y="4432300"/>
            <a:ext cx="82551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500">
                <a:solidFill>
                  <a:srgbClr val="CAD3DF"/>
                </a:solidFill>
                <a:latin typeface="Lato"/>
                <a:ea typeface="Lato"/>
                <a:cs typeface="Lato"/>
                <a:sym typeface="Lato"/>
              </a:rPr>
              <a:t>À comparer : qualité des points, fréquence de capture et ressources.</a:t>
            </a:r>
            <a:endParaRPr sz="1500">
              <a:solidFill>
                <a:srgbClr val="CAD3DF"/>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fr" sz="2700">
                <a:solidFill>
                  <a:srgbClr val="FFFFFF"/>
                </a:solidFill>
                <a:latin typeface="Lato"/>
                <a:ea typeface="Lato"/>
                <a:cs typeface="Lato"/>
                <a:sym typeface="Lato"/>
              </a:rPr>
              <a:t>Une architecture commune</a:t>
            </a:r>
            <a:endParaRPr b="1" sz="2700">
              <a:solidFill>
                <a:srgbClr val="FFFFFF"/>
              </a:solidFill>
              <a:latin typeface="Lato"/>
              <a:ea typeface="Lato"/>
              <a:cs typeface="Lato"/>
              <a:sym typeface="Lato"/>
            </a:endParaRPr>
          </a:p>
        </p:txBody>
      </p:sp>
      <p:cxnSp>
        <p:nvCxnSpPr>
          <p:cNvPr id="172" name="Google Shape;172;p17"/>
          <p:cNvCxnSpPr/>
          <p:nvPr/>
        </p:nvCxnSpPr>
        <p:spPr>
          <a:xfrm>
            <a:off x="2984500" y="2463800"/>
            <a:ext cx="698400" cy="0"/>
          </a:xfrm>
          <a:prstGeom prst="straightConnector1">
            <a:avLst/>
          </a:prstGeom>
          <a:noFill/>
          <a:ln cap="flat" cmpd="sng" w="19050">
            <a:solidFill>
              <a:srgbClr val="83C7A5"/>
            </a:solidFill>
            <a:prstDash val="solid"/>
            <a:round/>
            <a:headEnd len="med" w="med" type="none"/>
            <a:tailEnd len="med" w="med" type="triangle"/>
          </a:ln>
        </p:spPr>
      </p:cxnSp>
      <p:cxnSp>
        <p:nvCxnSpPr>
          <p:cNvPr id="173" name="Google Shape;173;p17"/>
          <p:cNvCxnSpPr/>
          <p:nvPr/>
        </p:nvCxnSpPr>
        <p:spPr>
          <a:xfrm flipH="1" rot="10800000">
            <a:off x="5715000" y="1866900"/>
            <a:ext cx="825600" cy="304800"/>
          </a:xfrm>
          <a:prstGeom prst="straightConnector1">
            <a:avLst/>
          </a:prstGeom>
          <a:noFill/>
          <a:ln cap="flat" cmpd="sng" w="19050">
            <a:solidFill>
              <a:srgbClr val="82A9FF"/>
            </a:solidFill>
            <a:prstDash val="solid"/>
            <a:round/>
            <a:headEnd len="med" w="med" type="none"/>
            <a:tailEnd len="med" w="med" type="triangle"/>
          </a:ln>
        </p:spPr>
      </p:cxnSp>
      <p:cxnSp>
        <p:nvCxnSpPr>
          <p:cNvPr id="174" name="Google Shape;174;p17"/>
          <p:cNvCxnSpPr/>
          <p:nvPr/>
        </p:nvCxnSpPr>
        <p:spPr>
          <a:xfrm flipH="1">
            <a:off x="5714900" y="2349500"/>
            <a:ext cx="825600" cy="317400"/>
          </a:xfrm>
          <a:prstGeom prst="straightConnector1">
            <a:avLst/>
          </a:prstGeom>
          <a:noFill/>
          <a:ln cap="flat" cmpd="sng" w="19050">
            <a:solidFill>
              <a:srgbClr val="83C7A5"/>
            </a:solidFill>
            <a:prstDash val="solid"/>
            <a:round/>
            <a:headEnd len="med" w="med" type="none"/>
            <a:tailEnd len="med" w="med" type="triangle"/>
          </a:ln>
        </p:spPr>
      </p:cxnSp>
      <p:cxnSp>
        <p:nvCxnSpPr>
          <p:cNvPr id="175" name="Google Shape;175;p17"/>
          <p:cNvCxnSpPr/>
          <p:nvPr/>
        </p:nvCxnSpPr>
        <p:spPr>
          <a:xfrm>
            <a:off x="4699000" y="3060700"/>
            <a:ext cx="0" cy="635100"/>
          </a:xfrm>
          <a:prstGeom prst="straightConnector1">
            <a:avLst/>
          </a:prstGeom>
          <a:noFill/>
          <a:ln cap="flat" cmpd="sng" w="19050">
            <a:solidFill>
              <a:srgbClr val="F0BA62"/>
            </a:solidFill>
            <a:prstDash val="solid"/>
            <a:round/>
            <a:headEnd len="med" w="med" type="none"/>
            <a:tailEnd len="med" w="med" type="triangle"/>
          </a:ln>
        </p:spPr>
      </p:cxnSp>
      <p:cxnSp>
        <p:nvCxnSpPr>
          <p:cNvPr id="176" name="Google Shape;176;p17"/>
          <p:cNvCxnSpPr/>
          <p:nvPr/>
        </p:nvCxnSpPr>
        <p:spPr>
          <a:xfrm>
            <a:off x="5715000" y="2933700"/>
            <a:ext cx="825600" cy="1003200"/>
          </a:xfrm>
          <a:prstGeom prst="straightConnector1">
            <a:avLst/>
          </a:prstGeom>
          <a:noFill/>
          <a:ln cap="flat" cmpd="sng" w="19050">
            <a:solidFill>
              <a:srgbClr val="F0BA62"/>
            </a:solidFill>
            <a:prstDash val="solid"/>
            <a:round/>
            <a:headEnd len="med" w="med" type="none"/>
            <a:tailEnd len="med" w="med" type="triangle"/>
          </a:ln>
        </p:spPr>
      </p:cxnSp>
      <p:sp>
        <p:nvSpPr>
          <p:cNvPr id="177" name="Google Shape;177;p17"/>
          <p:cNvSpPr/>
          <p:nvPr/>
        </p:nvSpPr>
        <p:spPr>
          <a:xfrm>
            <a:off x="571500" y="1866900"/>
            <a:ext cx="2412900" cy="1193700"/>
          </a:xfrm>
          <a:prstGeom prst="roundRect">
            <a:avLst>
              <a:gd fmla="val 16667" name="adj"/>
            </a:avLst>
          </a:prstGeom>
          <a:solidFill>
            <a:srgbClr val="25333F"/>
          </a:solidFill>
          <a:ln cap="flat" cmpd="sng" w="19050">
            <a:solidFill>
              <a:srgbClr val="83C7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lang="fr" sz="1700">
                <a:solidFill>
                  <a:srgbClr val="FFFFFF"/>
                </a:solidFill>
                <a:latin typeface="Lato"/>
                <a:ea typeface="Lato"/>
                <a:cs typeface="Lato"/>
                <a:sym typeface="Lato"/>
              </a:rPr>
              <a:t>Sources</a:t>
            </a:r>
            <a:endParaRPr sz="1700">
              <a:solidFill>
                <a:srgbClr val="FFFFFF"/>
              </a:solidFill>
              <a:latin typeface="Lato"/>
              <a:ea typeface="Lato"/>
              <a:cs typeface="Lato"/>
              <a:sym typeface="Lato"/>
            </a:endParaRPr>
          </a:p>
          <a:p>
            <a:pPr indent="0" lvl="0" marL="0" rtl="0" algn="ctr">
              <a:lnSpc>
                <a:spcPct val="120000"/>
              </a:lnSpc>
              <a:spcBef>
                <a:spcPts val="0"/>
              </a:spcBef>
              <a:spcAft>
                <a:spcPts val="0"/>
              </a:spcAft>
              <a:buNone/>
            </a:pPr>
            <a:r>
              <a:rPr lang="fr" sz="1700">
                <a:solidFill>
                  <a:srgbClr val="FFFFFF"/>
                </a:solidFill>
                <a:latin typeface="Lato"/>
                <a:ea typeface="Lato"/>
                <a:cs typeface="Lato"/>
                <a:sym typeface="Lato"/>
              </a:rPr>
              <a:t>Téléphone, PC</a:t>
            </a:r>
            <a:endParaRPr sz="1700">
              <a:solidFill>
                <a:srgbClr val="FFFFFF"/>
              </a:solidFill>
              <a:latin typeface="Lato"/>
              <a:ea typeface="Lato"/>
              <a:cs typeface="Lato"/>
              <a:sym typeface="Lato"/>
            </a:endParaRPr>
          </a:p>
          <a:p>
            <a:pPr indent="0" lvl="0" marL="0" rtl="0" algn="ctr">
              <a:lnSpc>
                <a:spcPct val="120000"/>
              </a:lnSpc>
              <a:spcBef>
                <a:spcPts val="0"/>
              </a:spcBef>
              <a:spcAft>
                <a:spcPts val="0"/>
              </a:spcAft>
              <a:buNone/>
            </a:pPr>
            <a:r>
              <a:rPr lang="fr" sz="1700">
                <a:solidFill>
                  <a:srgbClr val="FFFFFF"/>
                </a:solidFill>
                <a:latin typeface="Lato"/>
                <a:ea typeface="Lato"/>
                <a:cs typeface="Lato"/>
                <a:sym typeface="Lato"/>
              </a:rPr>
              <a:t>Raspberry Pi</a:t>
            </a:r>
            <a:endParaRPr sz="1700">
              <a:solidFill>
                <a:srgbClr val="FFFFFF"/>
              </a:solidFill>
              <a:latin typeface="Lato"/>
              <a:ea typeface="Lato"/>
              <a:cs typeface="Lato"/>
              <a:sym typeface="Lato"/>
            </a:endParaRPr>
          </a:p>
        </p:txBody>
      </p:sp>
      <p:sp>
        <p:nvSpPr>
          <p:cNvPr id="178" name="Google Shape;178;p17"/>
          <p:cNvSpPr/>
          <p:nvPr/>
        </p:nvSpPr>
        <p:spPr>
          <a:xfrm>
            <a:off x="3683000" y="1866900"/>
            <a:ext cx="2031900" cy="1193700"/>
          </a:xfrm>
          <a:prstGeom prst="roundRect">
            <a:avLst>
              <a:gd fmla="val 16667" name="adj"/>
            </a:avLst>
          </a:prstGeom>
          <a:solidFill>
            <a:srgbClr val="25333F"/>
          </a:solidFill>
          <a:ln cap="flat" cmpd="sng" w="19050">
            <a:solidFill>
              <a:srgbClr val="82A9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lang="fr" sz="1700">
                <a:solidFill>
                  <a:srgbClr val="FFFFFF"/>
                </a:solidFill>
                <a:latin typeface="Lato"/>
                <a:ea typeface="Lato"/>
                <a:cs typeface="Lato"/>
                <a:sym typeface="Lato"/>
              </a:rPr>
              <a:t>Serveur</a:t>
            </a:r>
            <a:endParaRPr sz="1700">
              <a:solidFill>
                <a:srgbClr val="FFFFFF"/>
              </a:solidFill>
              <a:latin typeface="Lato"/>
              <a:ea typeface="Lato"/>
              <a:cs typeface="Lato"/>
              <a:sym typeface="Lato"/>
            </a:endParaRPr>
          </a:p>
          <a:p>
            <a:pPr indent="0" lvl="0" marL="0" rtl="0" algn="ctr">
              <a:lnSpc>
                <a:spcPct val="120000"/>
              </a:lnSpc>
              <a:spcBef>
                <a:spcPts val="0"/>
              </a:spcBef>
              <a:spcAft>
                <a:spcPts val="0"/>
              </a:spcAft>
              <a:buNone/>
            </a:pPr>
            <a:r>
              <a:rPr lang="fr" sz="1700">
                <a:solidFill>
                  <a:srgbClr val="FFFFFF"/>
                </a:solidFill>
                <a:latin typeface="Lato"/>
                <a:ea typeface="Lato"/>
                <a:cs typeface="Lato"/>
                <a:sym typeface="Lato"/>
              </a:rPr>
              <a:t>Réception et échanges</a:t>
            </a:r>
            <a:endParaRPr sz="1700">
              <a:solidFill>
                <a:srgbClr val="FFFFFF"/>
              </a:solidFill>
              <a:latin typeface="Lato"/>
              <a:ea typeface="Lato"/>
              <a:cs typeface="Lato"/>
              <a:sym typeface="Lato"/>
            </a:endParaRPr>
          </a:p>
        </p:txBody>
      </p:sp>
      <p:sp>
        <p:nvSpPr>
          <p:cNvPr id="179" name="Google Shape;179;p17"/>
          <p:cNvSpPr/>
          <p:nvPr/>
        </p:nvSpPr>
        <p:spPr>
          <a:xfrm>
            <a:off x="6540500" y="1320800"/>
            <a:ext cx="2159100" cy="1257300"/>
          </a:xfrm>
          <a:prstGeom prst="roundRect">
            <a:avLst>
              <a:gd fmla="val 16667" name="adj"/>
            </a:avLst>
          </a:prstGeom>
          <a:solidFill>
            <a:srgbClr val="25333F"/>
          </a:solidFill>
          <a:ln cap="flat" cmpd="sng" w="19050">
            <a:solidFill>
              <a:srgbClr val="83C7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lang="fr" sz="1700">
                <a:solidFill>
                  <a:srgbClr val="FFFFFF"/>
                </a:solidFill>
                <a:latin typeface="Lato"/>
                <a:ea typeface="Lato"/>
                <a:cs typeface="Lato"/>
                <a:sym typeface="Lato"/>
              </a:rPr>
              <a:t>Analyse de posture</a:t>
            </a:r>
            <a:endParaRPr sz="1700">
              <a:solidFill>
                <a:srgbClr val="FFFFFF"/>
              </a:solidFill>
              <a:latin typeface="Lato"/>
              <a:ea typeface="Lato"/>
              <a:cs typeface="Lato"/>
              <a:sym typeface="Lato"/>
            </a:endParaRPr>
          </a:p>
          <a:p>
            <a:pPr indent="0" lvl="0" marL="0" rtl="0" algn="ctr">
              <a:lnSpc>
                <a:spcPct val="120000"/>
              </a:lnSpc>
              <a:spcBef>
                <a:spcPts val="0"/>
              </a:spcBef>
              <a:spcAft>
                <a:spcPts val="0"/>
              </a:spcAft>
              <a:buNone/>
            </a:pPr>
            <a:r>
              <a:rPr lang="fr" sz="1700">
                <a:solidFill>
                  <a:srgbClr val="FFFFFF"/>
                </a:solidFill>
                <a:latin typeface="Lato"/>
                <a:ea typeface="Lato"/>
                <a:cs typeface="Lato"/>
                <a:sym typeface="Lato"/>
              </a:rPr>
              <a:t>Algorithme ou IA</a:t>
            </a:r>
            <a:endParaRPr sz="1700">
              <a:solidFill>
                <a:srgbClr val="FFFFFF"/>
              </a:solidFill>
              <a:latin typeface="Lato"/>
              <a:ea typeface="Lato"/>
              <a:cs typeface="Lato"/>
              <a:sym typeface="Lato"/>
            </a:endParaRPr>
          </a:p>
          <a:p>
            <a:pPr indent="0" lvl="0" marL="0" rtl="0" algn="ctr">
              <a:lnSpc>
                <a:spcPct val="120000"/>
              </a:lnSpc>
              <a:spcBef>
                <a:spcPts val="0"/>
              </a:spcBef>
              <a:spcAft>
                <a:spcPts val="0"/>
              </a:spcAft>
              <a:buNone/>
            </a:pPr>
            <a:r>
              <a:rPr lang="fr" sz="1700">
                <a:solidFill>
                  <a:srgbClr val="FFFFFF"/>
                </a:solidFill>
                <a:latin typeface="Lato"/>
                <a:ea typeface="Lato"/>
                <a:cs typeface="Lato"/>
                <a:sym typeface="Lato"/>
              </a:rPr>
              <a:t>Résultat et explication</a:t>
            </a:r>
            <a:endParaRPr sz="1700">
              <a:solidFill>
                <a:srgbClr val="FFFFFF"/>
              </a:solidFill>
              <a:latin typeface="Lato"/>
              <a:ea typeface="Lato"/>
              <a:cs typeface="Lato"/>
              <a:sym typeface="Lato"/>
            </a:endParaRPr>
          </a:p>
        </p:txBody>
      </p:sp>
      <p:sp>
        <p:nvSpPr>
          <p:cNvPr id="180" name="Google Shape;180;p17"/>
          <p:cNvSpPr/>
          <p:nvPr/>
        </p:nvSpPr>
        <p:spPr>
          <a:xfrm>
            <a:off x="3683000" y="3695700"/>
            <a:ext cx="2031900" cy="888900"/>
          </a:xfrm>
          <a:prstGeom prst="roundRect">
            <a:avLst>
              <a:gd fmla="val 16667" name="adj"/>
            </a:avLst>
          </a:prstGeom>
          <a:solidFill>
            <a:srgbClr val="25333F"/>
          </a:solidFill>
          <a:ln cap="flat" cmpd="sng" w="19050">
            <a:solidFill>
              <a:srgbClr val="F0BA6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lang="fr" sz="1600">
                <a:solidFill>
                  <a:srgbClr val="FFFFFF"/>
                </a:solidFill>
                <a:latin typeface="Lato"/>
                <a:ea typeface="Lato"/>
                <a:cs typeface="Lato"/>
                <a:sym typeface="Lato"/>
              </a:rPr>
              <a:t>Base de données</a:t>
            </a:r>
            <a:endParaRPr sz="1600">
              <a:solidFill>
                <a:srgbClr val="FFFFFF"/>
              </a:solidFill>
              <a:latin typeface="Lato"/>
              <a:ea typeface="Lato"/>
              <a:cs typeface="Lato"/>
              <a:sym typeface="Lato"/>
            </a:endParaRPr>
          </a:p>
          <a:p>
            <a:pPr indent="0" lvl="0" marL="0" rtl="0" algn="ctr">
              <a:lnSpc>
                <a:spcPct val="120000"/>
              </a:lnSpc>
              <a:spcBef>
                <a:spcPts val="0"/>
              </a:spcBef>
              <a:spcAft>
                <a:spcPts val="0"/>
              </a:spcAft>
              <a:buNone/>
            </a:pPr>
            <a:r>
              <a:rPr lang="fr" sz="1600">
                <a:solidFill>
                  <a:srgbClr val="FFFFFF"/>
                </a:solidFill>
                <a:latin typeface="Lato"/>
                <a:ea typeface="Lato"/>
                <a:cs typeface="Lato"/>
                <a:sym typeface="Lato"/>
              </a:rPr>
              <a:t>Mesures, résultats</a:t>
            </a:r>
            <a:endParaRPr sz="1600">
              <a:solidFill>
                <a:srgbClr val="FFFFFF"/>
              </a:solidFill>
              <a:latin typeface="Lato"/>
              <a:ea typeface="Lato"/>
              <a:cs typeface="Lato"/>
              <a:sym typeface="Lato"/>
            </a:endParaRPr>
          </a:p>
        </p:txBody>
      </p:sp>
      <p:sp>
        <p:nvSpPr>
          <p:cNvPr id="181" name="Google Shape;181;p17"/>
          <p:cNvSpPr/>
          <p:nvPr/>
        </p:nvSpPr>
        <p:spPr>
          <a:xfrm>
            <a:off x="6540500" y="3695700"/>
            <a:ext cx="2159100" cy="888900"/>
          </a:xfrm>
          <a:prstGeom prst="roundRect">
            <a:avLst>
              <a:gd fmla="val 16667" name="adj"/>
            </a:avLst>
          </a:prstGeom>
          <a:solidFill>
            <a:srgbClr val="25333F"/>
          </a:solidFill>
          <a:ln cap="flat" cmpd="sng" w="19050">
            <a:solidFill>
              <a:srgbClr val="F0BA6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20000"/>
              </a:lnSpc>
              <a:spcBef>
                <a:spcPts val="0"/>
              </a:spcBef>
              <a:spcAft>
                <a:spcPts val="0"/>
              </a:spcAft>
              <a:buNone/>
            </a:pPr>
            <a:r>
              <a:rPr lang="fr" sz="1600">
                <a:solidFill>
                  <a:srgbClr val="FFFFFF"/>
                </a:solidFill>
                <a:latin typeface="Lato"/>
                <a:ea typeface="Lato"/>
                <a:cs typeface="Lato"/>
                <a:sym typeface="Lato"/>
              </a:rPr>
              <a:t>Stockage S3</a:t>
            </a:r>
            <a:endParaRPr sz="1600">
              <a:solidFill>
                <a:srgbClr val="FFFFFF"/>
              </a:solidFill>
              <a:latin typeface="Lato"/>
              <a:ea typeface="Lato"/>
              <a:cs typeface="Lato"/>
              <a:sym typeface="Lato"/>
            </a:endParaRPr>
          </a:p>
          <a:p>
            <a:pPr indent="0" lvl="0" marL="0" rtl="0" algn="ctr">
              <a:lnSpc>
                <a:spcPct val="120000"/>
              </a:lnSpc>
              <a:spcBef>
                <a:spcPts val="0"/>
              </a:spcBef>
              <a:spcAft>
                <a:spcPts val="0"/>
              </a:spcAft>
              <a:buNone/>
            </a:pPr>
            <a:r>
              <a:rPr lang="fr" sz="1600">
                <a:solidFill>
                  <a:srgbClr val="FFFFFF"/>
                </a:solidFill>
                <a:latin typeface="Lato"/>
                <a:ea typeface="Lato"/>
                <a:cs typeface="Lato"/>
                <a:sym typeface="Lato"/>
              </a:rPr>
              <a:t>Images utilisateur</a:t>
            </a:r>
            <a:endParaRPr sz="1600">
              <a:solidFill>
                <a:srgbClr val="FFFFFF"/>
              </a:solidFill>
              <a:latin typeface="Lato"/>
              <a:ea typeface="Lato"/>
              <a:cs typeface="Lato"/>
              <a:sym typeface="Lato"/>
            </a:endParaRPr>
          </a:p>
        </p:txBody>
      </p:sp>
      <p:sp>
        <p:nvSpPr>
          <p:cNvPr id="182" name="Google Shape;182;p17"/>
          <p:cNvSpPr txBox="1"/>
          <p:nvPr/>
        </p:nvSpPr>
        <p:spPr>
          <a:xfrm>
            <a:off x="571500" y="4673600"/>
            <a:ext cx="2984400" cy="3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rgbClr val="A9BBC9"/>
                </a:solidFill>
                <a:latin typeface="Lato"/>
                <a:ea typeface="Lato"/>
                <a:cs typeface="Lato"/>
                <a:sym typeface="Lato"/>
              </a:rPr>
              <a:t>Architecture envisagée</a:t>
            </a:r>
            <a:endParaRPr sz="1300">
              <a:solidFill>
                <a:srgbClr val="A9BBC9"/>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fr" sz="2700">
                <a:solidFill>
                  <a:srgbClr val="FFFFFF"/>
                </a:solidFill>
                <a:latin typeface="Lato"/>
                <a:ea typeface="Lato"/>
                <a:cs typeface="Lato"/>
                <a:sym typeface="Lato"/>
              </a:rPr>
              <a:t>Le retour aux utilisateurs</a:t>
            </a:r>
            <a:endParaRPr b="1" sz="2700">
              <a:solidFill>
                <a:srgbClr val="FFFFFF"/>
              </a:solidFill>
              <a:latin typeface="Lato"/>
              <a:ea typeface="Lato"/>
              <a:cs typeface="Lato"/>
              <a:sym typeface="Lato"/>
            </a:endParaRPr>
          </a:p>
        </p:txBody>
      </p:sp>
      <p:sp>
        <p:nvSpPr>
          <p:cNvPr id="188" name="Google Shape;188;p18"/>
          <p:cNvSpPr txBox="1"/>
          <p:nvPr/>
        </p:nvSpPr>
        <p:spPr>
          <a:xfrm>
            <a:off x="571500" y="1739900"/>
            <a:ext cx="40005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400">
                <a:solidFill>
                  <a:srgbClr val="83C7A5"/>
                </a:solidFill>
                <a:latin typeface="Lato"/>
                <a:ea typeface="Lato"/>
                <a:cs typeface="Lato"/>
                <a:sym typeface="Lato"/>
              </a:rPr>
              <a:t>Application mobile et PC</a:t>
            </a:r>
            <a:endParaRPr b="1" sz="2400">
              <a:solidFill>
                <a:srgbClr val="83C7A5"/>
              </a:solidFill>
              <a:latin typeface="Lato"/>
              <a:ea typeface="Lato"/>
              <a:cs typeface="Lato"/>
              <a:sym typeface="Lato"/>
            </a:endParaRPr>
          </a:p>
        </p:txBody>
      </p:sp>
      <p:sp>
        <p:nvSpPr>
          <p:cNvPr id="189" name="Google Shape;189;p18"/>
          <p:cNvSpPr txBox="1"/>
          <p:nvPr/>
        </p:nvSpPr>
        <p:spPr>
          <a:xfrm>
            <a:off x="571500" y="2565400"/>
            <a:ext cx="3873600" cy="1714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fr" sz="1900">
                <a:solidFill>
                  <a:srgbClr val="FFFFFF"/>
                </a:solidFill>
                <a:latin typeface="Lato"/>
                <a:ea typeface="Lato"/>
                <a:cs typeface="Lato"/>
                <a:sym typeface="Lato"/>
              </a:rPr>
              <a:t>Voir la position analysée</a:t>
            </a:r>
            <a:endParaRPr sz="1900">
              <a:solidFill>
                <a:srgbClr val="FFFFFF"/>
              </a:solidFill>
              <a:latin typeface="Lato"/>
              <a:ea typeface="Lato"/>
              <a:cs typeface="Lato"/>
              <a:sym typeface="Lato"/>
            </a:endParaRPr>
          </a:p>
          <a:p>
            <a:pPr indent="0" lvl="0" marL="0" rtl="0" algn="l">
              <a:lnSpc>
                <a:spcPct val="110000"/>
              </a:lnSpc>
              <a:spcBef>
                <a:spcPts val="1400"/>
              </a:spcBef>
              <a:spcAft>
                <a:spcPts val="0"/>
              </a:spcAft>
              <a:buNone/>
            </a:pPr>
            <a:r>
              <a:rPr lang="fr" sz="1900">
                <a:solidFill>
                  <a:srgbClr val="FFFFFF"/>
                </a:solidFill>
                <a:latin typeface="Lato"/>
                <a:ea typeface="Lato"/>
                <a:cs typeface="Lato"/>
                <a:sym typeface="Lato"/>
              </a:rPr>
              <a:t>Recevoir un retour et des conseils</a:t>
            </a:r>
            <a:endParaRPr sz="1900">
              <a:solidFill>
                <a:srgbClr val="FFFFFF"/>
              </a:solidFill>
              <a:latin typeface="Lato"/>
              <a:ea typeface="Lato"/>
              <a:cs typeface="Lato"/>
              <a:sym typeface="Lato"/>
            </a:endParaRPr>
          </a:p>
          <a:p>
            <a:pPr indent="0" lvl="0" marL="0" rtl="0" algn="l">
              <a:lnSpc>
                <a:spcPct val="110000"/>
              </a:lnSpc>
              <a:spcBef>
                <a:spcPts val="1400"/>
              </a:spcBef>
              <a:spcAft>
                <a:spcPts val="1400"/>
              </a:spcAft>
              <a:buNone/>
            </a:pPr>
            <a:r>
              <a:rPr lang="fr" sz="1900">
                <a:solidFill>
                  <a:srgbClr val="FFFFFF"/>
                </a:solidFill>
                <a:latin typeface="Lato"/>
                <a:ea typeface="Lato"/>
                <a:cs typeface="Lato"/>
                <a:sym typeface="Lato"/>
              </a:rPr>
              <a:t>Consulter son historique</a:t>
            </a:r>
            <a:endParaRPr sz="1900">
              <a:solidFill>
                <a:srgbClr val="FFFFFF"/>
              </a:solidFill>
              <a:latin typeface="Lato"/>
              <a:ea typeface="Lato"/>
              <a:cs typeface="Lato"/>
              <a:sym typeface="Lato"/>
            </a:endParaRPr>
          </a:p>
        </p:txBody>
      </p:sp>
      <p:sp>
        <p:nvSpPr>
          <p:cNvPr id="190" name="Google Shape;190;p18"/>
          <p:cNvSpPr txBox="1"/>
          <p:nvPr/>
        </p:nvSpPr>
        <p:spPr>
          <a:xfrm>
            <a:off x="4889500" y="1739900"/>
            <a:ext cx="3810000" cy="57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400">
                <a:solidFill>
                  <a:srgbClr val="82A9FF"/>
                </a:solidFill>
                <a:latin typeface="Lato"/>
                <a:ea typeface="Lato"/>
                <a:cs typeface="Lato"/>
                <a:sym typeface="Lato"/>
              </a:rPr>
              <a:t>Interface web de suivi</a:t>
            </a:r>
            <a:endParaRPr b="1" sz="2400">
              <a:solidFill>
                <a:srgbClr val="82A9FF"/>
              </a:solidFill>
              <a:latin typeface="Lato"/>
              <a:ea typeface="Lato"/>
              <a:cs typeface="Lato"/>
              <a:sym typeface="Lato"/>
            </a:endParaRPr>
          </a:p>
        </p:txBody>
      </p:sp>
      <p:sp>
        <p:nvSpPr>
          <p:cNvPr id="191" name="Google Shape;191;p18"/>
          <p:cNvSpPr txBox="1"/>
          <p:nvPr/>
        </p:nvSpPr>
        <p:spPr>
          <a:xfrm>
            <a:off x="4889500" y="2565400"/>
            <a:ext cx="3810000" cy="1714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fr" sz="1900">
                <a:solidFill>
                  <a:srgbClr val="FFFFFF"/>
                </a:solidFill>
                <a:latin typeface="Lato"/>
                <a:ea typeface="Lato"/>
                <a:cs typeface="Lato"/>
                <a:sym typeface="Lato"/>
              </a:rPr>
              <a:t>Nombre de positions analysées</a:t>
            </a:r>
            <a:endParaRPr sz="1900">
              <a:solidFill>
                <a:srgbClr val="FFFFFF"/>
              </a:solidFill>
              <a:latin typeface="Lato"/>
              <a:ea typeface="Lato"/>
              <a:cs typeface="Lato"/>
              <a:sym typeface="Lato"/>
            </a:endParaRPr>
          </a:p>
          <a:p>
            <a:pPr indent="0" lvl="0" marL="0" rtl="0" algn="l">
              <a:lnSpc>
                <a:spcPct val="110000"/>
              </a:lnSpc>
              <a:spcBef>
                <a:spcPts val="1400"/>
              </a:spcBef>
              <a:spcAft>
                <a:spcPts val="0"/>
              </a:spcAft>
              <a:buNone/>
            </a:pPr>
            <a:r>
              <a:rPr lang="fr" sz="1900">
                <a:solidFill>
                  <a:srgbClr val="FFFFFF"/>
                </a:solidFill>
                <a:latin typeface="Lato"/>
                <a:ea typeface="Lato"/>
                <a:cs typeface="Lato"/>
                <a:sym typeface="Lato"/>
              </a:rPr>
              <a:t>Répartition des résultats</a:t>
            </a:r>
            <a:endParaRPr sz="1900">
              <a:solidFill>
                <a:srgbClr val="FFFFFF"/>
              </a:solidFill>
              <a:latin typeface="Lato"/>
              <a:ea typeface="Lato"/>
              <a:cs typeface="Lato"/>
              <a:sym typeface="Lato"/>
            </a:endParaRPr>
          </a:p>
          <a:p>
            <a:pPr indent="0" lvl="0" marL="0" rtl="0" algn="l">
              <a:lnSpc>
                <a:spcPct val="110000"/>
              </a:lnSpc>
              <a:spcBef>
                <a:spcPts val="1400"/>
              </a:spcBef>
              <a:spcAft>
                <a:spcPts val="1400"/>
              </a:spcAft>
              <a:buNone/>
            </a:pPr>
            <a:r>
              <a:rPr lang="fr" sz="1900">
                <a:solidFill>
                  <a:srgbClr val="FFFFFF"/>
                </a:solidFill>
                <a:latin typeface="Lato"/>
                <a:ea typeface="Lato"/>
                <a:cs typeface="Lato"/>
                <a:sym typeface="Lato"/>
              </a:rPr>
              <a:t>Relecture des erreurs</a:t>
            </a:r>
            <a:endParaRPr sz="1900">
              <a:solidFill>
                <a:srgbClr val="FFFFFF"/>
              </a:solidFill>
              <a:latin typeface="Lato"/>
              <a:ea typeface="Lato"/>
              <a:cs typeface="Lato"/>
              <a:sym typeface="Lato"/>
            </a:endParaRPr>
          </a:p>
        </p:txBody>
      </p:sp>
      <p:sp>
        <p:nvSpPr>
          <p:cNvPr id="192" name="Google Shape;192;p18"/>
          <p:cNvSpPr txBox="1"/>
          <p:nvPr/>
        </p:nvSpPr>
        <p:spPr>
          <a:xfrm>
            <a:off x="571500" y="4533900"/>
            <a:ext cx="82551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500">
                <a:solidFill>
                  <a:srgbClr val="CAD3DF"/>
                </a:solidFill>
                <a:latin typeface="Lato"/>
                <a:ea typeface="Lato"/>
                <a:cs typeface="Lato"/>
                <a:sym typeface="Lato"/>
              </a:rPr>
              <a:t>Le serveur alimente les interfaces avec les résultats de l’analyse.</a:t>
            </a:r>
            <a:endParaRPr sz="1500">
              <a:solidFill>
                <a:srgbClr val="CAD3DF"/>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3C7A5"/>
        </a:solidFill>
      </p:bgPr>
    </p:bg>
    <p:spTree>
      <p:nvGrpSpPr>
        <p:cNvPr id="196" name="Shape 196"/>
        <p:cNvGrpSpPr/>
        <p:nvPr/>
      </p:nvGrpSpPr>
      <p:grpSpPr>
        <a:xfrm>
          <a:off x="0" y="0"/>
          <a:ext cx="0" cy="0"/>
          <a:chOff x="0" y="0"/>
          <a:chExt cx="0" cy="0"/>
        </a:xfrm>
      </p:grpSpPr>
      <p:sp>
        <p:nvSpPr>
          <p:cNvPr id="197" name="Google Shape;197;p19"/>
          <p:cNvSpPr txBox="1"/>
          <p:nvPr>
            <p:ph type="title"/>
          </p:nvPr>
        </p:nvSpPr>
        <p:spPr>
          <a:xfrm>
            <a:off x="571500" y="2476500"/>
            <a:ext cx="5778600" cy="1625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3800">
                <a:solidFill>
                  <a:srgbClr val="1C222B"/>
                </a:solidFill>
              </a:rPr>
              <a:t>Les pistes</a:t>
            </a:r>
            <a:endParaRPr b="1" sz="3800">
              <a:solidFill>
                <a:srgbClr val="1C222B"/>
              </a:solidFill>
            </a:endParaRPr>
          </a:p>
          <a:p>
            <a:pPr indent="0" lvl="0" marL="0" rtl="0" algn="l">
              <a:spcBef>
                <a:spcPts val="0"/>
              </a:spcBef>
              <a:spcAft>
                <a:spcPts val="0"/>
              </a:spcAft>
              <a:buNone/>
            </a:pPr>
            <a:r>
              <a:rPr b="1" lang="fr" sz="3800">
                <a:solidFill>
                  <a:srgbClr val="1C222B"/>
                </a:solidFill>
              </a:rPr>
              <a:t>de recherche</a:t>
            </a:r>
            <a:endParaRPr b="1" sz="3800">
              <a:solidFill>
                <a:srgbClr val="1C222B"/>
              </a:solidFill>
            </a:endParaRPr>
          </a:p>
        </p:txBody>
      </p:sp>
      <p:sp>
        <p:nvSpPr>
          <p:cNvPr id="198" name="Google Shape;198;p19"/>
          <p:cNvSpPr txBox="1"/>
          <p:nvPr/>
        </p:nvSpPr>
        <p:spPr>
          <a:xfrm>
            <a:off x="571500" y="609600"/>
            <a:ext cx="2857500" cy="172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0000">
                <a:solidFill>
                  <a:srgbClr val="1C222B"/>
                </a:solidFill>
                <a:latin typeface="Lato"/>
                <a:ea typeface="Lato"/>
                <a:cs typeface="Lato"/>
                <a:sym typeface="Lato"/>
              </a:rPr>
              <a:t>02</a:t>
            </a:r>
            <a:endParaRPr sz="10000">
              <a:solidFill>
                <a:srgbClr val="1C222B"/>
              </a:solidFill>
              <a:latin typeface="Lato"/>
              <a:ea typeface="Lato"/>
              <a:cs typeface="Lato"/>
              <a:sym typeface="Lato"/>
            </a:endParaRPr>
          </a:p>
        </p:txBody>
      </p:sp>
      <p:sp>
        <p:nvSpPr>
          <p:cNvPr id="199" name="Google Shape;199;p19"/>
          <p:cNvSpPr txBox="1"/>
          <p:nvPr/>
        </p:nvSpPr>
        <p:spPr>
          <a:xfrm>
            <a:off x="609600" y="4343400"/>
            <a:ext cx="54609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700">
                <a:solidFill>
                  <a:srgbClr val="1C222B"/>
                </a:solidFill>
                <a:latin typeface="Lato"/>
                <a:ea typeface="Lato"/>
                <a:cs typeface="Lato"/>
                <a:sym typeface="Lato"/>
              </a:rPr>
              <a:t>Trois méthodes à expérimenter</a:t>
            </a:r>
            <a:endParaRPr sz="1700">
              <a:solidFill>
                <a:srgbClr val="1C222B"/>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0"/>
          <p:cNvSpPr txBox="1"/>
          <p:nvPr>
            <p:ph type="title"/>
          </p:nvPr>
        </p:nvSpPr>
        <p:spPr>
          <a:xfrm>
            <a:off x="1297500" y="393750"/>
            <a:ext cx="70389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2700">
                <a:solidFill>
                  <a:srgbClr val="FFFFFF"/>
                </a:solidFill>
              </a:rPr>
              <a:t>1. Un modèle déjà entraîné</a:t>
            </a:r>
            <a:endParaRPr b="1" sz="2700">
              <a:solidFill>
                <a:srgbClr val="FFFFFF"/>
              </a:solidFill>
            </a:endParaRPr>
          </a:p>
        </p:txBody>
      </p:sp>
      <p:sp>
        <p:nvSpPr>
          <p:cNvPr id="205" name="Google Shape;205;p20"/>
          <p:cNvSpPr txBox="1"/>
          <p:nvPr>
            <p:ph idx="1" type="body"/>
          </p:nvPr>
        </p:nvSpPr>
        <p:spPr>
          <a:xfrm>
            <a:off x="698500" y="1524000"/>
            <a:ext cx="3619500" cy="3302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fr" sz="1600">
                <a:solidFill>
                  <a:srgbClr val="83C7A5"/>
                </a:solidFill>
              </a:rPr>
              <a:t>Principe</a:t>
            </a:r>
            <a:endParaRPr b="1" sz="1600">
              <a:solidFill>
                <a:srgbClr val="83C7A5"/>
              </a:solidFill>
            </a:endParaRPr>
          </a:p>
          <a:p>
            <a:pPr indent="0" lvl="0" marL="0" marR="0" rtl="0" algn="l">
              <a:lnSpc>
                <a:spcPct val="110000"/>
              </a:lnSpc>
              <a:spcBef>
                <a:spcPts val="400"/>
              </a:spcBef>
              <a:spcAft>
                <a:spcPts val="0"/>
              </a:spcAft>
              <a:buNone/>
            </a:pPr>
            <a:r>
              <a:rPr lang="fr" sz="1800">
                <a:solidFill>
                  <a:srgbClr val="FFFFFF"/>
                </a:solidFill>
              </a:rPr>
              <a:t>MediaPipe sur PC, ML Kit à tester sur mobile.</a:t>
            </a:r>
            <a:endParaRPr sz="1800">
              <a:solidFill>
                <a:srgbClr val="FFFFFF"/>
              </a:solidFill>
            </a:endParaRPr>
          </a:p>
          <a:p>
            <a:pPr indent="0" lvl="0" marL="0" marR="0" rtl="0" algn="l">
              <a:lnSpc>
                <a:spcPct val="110000"/>
              </a:lnSpc>
              <a:spcBef>
                <a:spcPts val="1200"/>
              </a:spcBef>
              <a:spcAft>
                <a:spcPts val="0"/>
              </a:spcAft>
              <a:buNone/>
            </a:pPr>
            <a:r>
              <a:rPr b="1" lang="fr" sz="1600">
                <a:solidFill>
                  <a:srgbClr val="83C7A5"/>
                </a:solidFill>
              </a:rPr>
              <a:t>Atout attendu</a:t>
            </a:r>
            <a:endParaRPr b="1" sz="1600">
              <a:solidFill>
                <a:srgbClr val="83C7A5"/>
              </a:solidFill>
            </a:endParaRPr>
          </a:p>
          <a:p>
            <a:pPr indent="0" lvl="0" marL="0" marR="0" rtl="0" algn="l">
              <a:lnSpc>
                <a:spcPct val="110000"/>
              </a:lnSpc>
              <a:spcBef>
                <a:spcPts val="400"/>
              </a:spcBef>
              <a:spcAft>
                <a:spcPts val="0"/>
              </a:spcAft>
              <a:buNone/>
            </a:pPr>
            <a:r>
              <a:rPr lang="fr" sz="1800">
                <a:solidFill>
                  <a:srgbClr val="FFFFFF"/>
                </a:solidFill>
              </a:rPr>
              <a:t>Réutiliser des modèles de détection.</a:t>
            </a:r>
            <a:endParaRPr sz="1800">
              <a:solidFill>
                <a:srgbClr val="FFFFFF"/>
              </a:solidFill>
            </a:endParaRPr>
          </a:p>
          <a:p>
            <a:pPr indent="0" lvl="0" marL="0" marR="0" rtl="0" algn="l">
              <a:lnSpc>
                <a:spcPct val="110000"/>
              </a:lnSpc>
              <a:spcBef>
                <a:spcPts val="1200"/>
              </a:spcBef>
              <a:spcAft>
                <a:spcPts val="0"/>
              </a:spcAft>
              <a:buNone/>
            </a:pPr>
            <a:r>
              <a:rPr b="1" lang="fr" sz="1600">
                <a:solidFill>
                  <a:srgbClr val="83C7A5"/>
                </a:solidFill>
              </a:rPr>
              <a:t>À tester</a:t>
            </a:r>
            <a:endParaRPr b="1" sz="1600">
              <a:solidFill>
                <a:srgbClr val="83C7A5"/>
              </a:solidFill>
            </a:endParaRPr>
          </a:p>
          <a:p>
            <a:pPr indent="0" lvl="0" marL="0" marR="0" rtl="0" algn="l">
              <a:lnSpc>
                <a:spcPct val="110000"/>
              </a:lnSpc>
              <a:spcBef>
                <a:spcPts val="400"/>
              </a:spcBef>
              <a:spcAft>
                <a:spcPts val="1200"/>
              </a:spcAft>
              <a:buNone/>
            </a:pPr>
            <a:r>
              <a:rPr lang="fr" sz="1800">
                <a:solidFill>
                  <a:srgbClr val="FFFFFF"/>
                </a:solidFill>
              </a:rPr>
              <a:t>Qualité des points selon la source.</a:t>
            </a:r>
            <a:endParaRPr sz="1800">
              <a:solidFill>
                <a:srgbClr val="FFFFFF"/>
              </a:solidFill>
            </a:endParaRPr>
          </a:p>
        </p:txBody>
      </p:sp>
      <p:pic>
        <p:nvPicPr>
          <p:cNvPr id="206" name="Google Shape;206;p20"/>
          <p:cNvPicPr preferRelativeResize="0"/>
          <p:nvPr/>
        </p:nvPicPr>
        <p:blipFill>
          <a:blip r:embed="rId3">
            <a:alphaModFix/>
          </a:blip>
          <a:stretch>
            <a:fillRect/>
          </a:stretch>
        </p:blipFill>
        <p:spPr>
          <a:xfrm>
            <a:off x="4800600" y="1066800"/>
            <a:ext cx="4064001" cy="40640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1"/>
          <p:cNvSpPr txBox="1"/>
          <p:nvPr>
            <p:ph type="title"/>
          </p:nvPr>
        </p:nvSpPr>
        <p:spPr>
          <a:xfrm>
            <a:off x="1297500" y="393750"/>
            <a:ext cx="70389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2700">
                <a:solidFill>
                  <a:srgbClr val="FFFFFF"/>
                </a:solidFill>
              </a:rPr>
              <a:t>2. Entraîner notre propre IA</a:t>
            </a:r>
            <a:endParaRPr b="1" sz="2700">
              <a:solidFill>
                <a:srgbClr val="FFFFFF"/>
              </a:solidFill>
            </a:endParaRPr>
          </a:p>
        </p:txBody>
      </p:sp>
      <p:sp>
        <p:nvSpPr>
          <p:cNvPr id="212" name="Google Shape;212;p21"/>
          <p:cNvSpPr txBox="1"/>
          <p:nvPr>
            <p:ph idx="1" type="body"/>
          </p:nvPr>
        </p:nvSpPr>
        <p:spPr>
          <a:xfrm>
            <a:off x="4953000" y="1524000"/>
            <a:ext cx="3492600" cy="3302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fr" sz="1600">
                <a:solidFill>
                  <a:srgbClr val="83C7A5"/>
                </a:solidFill>
              </a:rPr>
              <a:t>Principe</a:t>
            </a:r>
            <a:endParaRPr b="1" sz="1600">
              <a:solidFill>
                <a:srgbClr val="83C7A5"/>
              </a:solidFill>
            </a:endParaRPr>
          </a:p>
          <a:p>
            <a:pPr indent="0" lvl="0" marL="0" marR="0" rtl="0" algn="l">
              <a:lnSpc>
                <a:spcPct val="110000"/>
              </a:lnSpc>
              <a:spcBef>
                <a:spcPts val="400"/>
              </a:spcBef>
              <a:spcAft>
                <a:spcPts val="0"/>
              </a:spcAft>
              <a:buNone/>
            </a:pPr>
            <a:r>
              <a:rPr lang="fr" sz="1800">
                <a:solidFill>
                  <a:srgbClr val="FFFFFF"/>
                </a:solidFill>
              </a:rPr>
              <a:t>Entraîner une IA sur des postures annotées.</a:t>
            </a:r>
            <a:endParaRPr sz="1800">
              <a:solidFill>
                <a:srgbClr val="FFFFFF"/>
              </a:solidFill>
            </a:endParaRPr>
          </a:p>
          <a:p>
            <a:pPr indent="0" lvl="0" marL="0" marR="0" rtl="0" algn="l">
              <a:lnSpc>
                <a:spcPct val="110000"/>
              </a:lnSpc>
              <a:spcBef>
                <a:spcPts val="1200"/>
              </a:spcBef>
              <a:spcAft>
                <a:spcPts val="0"/>
              </a:spcAft>
              <a:buNone/>
            </a:pPr>
            <a:r>
              <a:rPr b="1" lang="fr" sz="1600">
                <a:solidFill>
                  <a:srgbClr val="83C7A5"/>
                </a:solidFill>
              </a:rPr>
              <a:t>Atout attendu</a:t>
            </a:r>
            <a:endParaRPr b="1" sz="1600">
              <a:solidFill>
                <a:srgbClr val="83C7A5"/>
              </a:solidFill>
            </a:endParaRPr>
          </a:p>
          <a:p>
            <a:pPr indent="0" lvl="0" marL="0" marR="0" rtl="0" algn="l">
              <a:lnSpc>
                <a:spcPct val="110000"/>
              </a:lnSpc>
              <a:spcBef>
                <a:spcPts val="400"/>
              </a:spcBef>
              <a:spcAft>
                <a:spcPts val="0"/>
              </a:spcAft>
              <a:buNone/>
            </a:pPr>
            <a:r>
              <a:rPr lang="fr" sz="1800">
                <a:solidFill>
                  <a:srgbClr val="FFFFFF"/>
                </a:solidFill>
              </a:rPr>
              <a:t>Une analyse adaptée à notre contexte.</a:t>
            </a:r>
            <a:endParaRPr sz="1800">
              <a:solidFill>
                <a:srgbClr val="FFFFFF"/>
              </a:solidFill>
            </a:endParaRPr>
          </a:p>
          <a:p>
            <a:pPr indent="0" lvl="0" marL="0" marR="0" rtl="0" algn="l">
              <a:lnSpc>
                <a:spcPct val="110000"/>
              </a:lnSpc>
              <a:spcBef>
                <a:spcPts val="1200"/>
              </a:spcBef>
              <a:spcAft>
                <a:spcPts val="0"/>
              </a:spcAft>
              <a:buNone/>
            </a:pPr>
            <a:r>
              <a:rPr b="1" lang="fr" sz="1600">
                <a:solidFill>
                  <a:srgbClr val="83C7A5"/>
                </a:solidFill>
              </a:rPr>
              <a:t>À tester</a:t>
            </a:r>
            <a:endParaRPr b="1" sz="1600">
              <a:solidFill>
                <a:srgbClr val="83C7A5"/>
              </a:solidFill>
            </a:endParaRPr>
          </a:p>
          <a:p>
            <a:pPr indent="0" lvl="0" marL="0" marR="0" rtl="0" algn="l">
              <a:lnSpc>
                <a:spcPct val="110000"/>
              </a:lnSpc>
              <a:spcBef>
                <a:spcPts val="400"/>
              </a:spcBef>
              <a:spcAft>
                <a:spcPts val="1200"/>
              </a:spcAft>
              <a:buNone/>
            </a:pPr>
            <a:r>
              <a:rPr lang="fr" sz="1800">
                <a:solidFill>
                  <a:srgbClr val="FFFFFF"/>
                </a:solidFill>
              </a:rPr>
              <a:t>Les résultats sur de nouvelles personnes.</a:t>
            </a:r>
            <a:endParaRPr sz="1800">
              <a:solidFill>
                <a:srgbClr val="FFFFFF"/>
              </a:solidFill>
            </a:endParaRPr>
          </a:p>
        </p:txBody>
      </p:sp>
      <p:pic>
        <p:nvPicPr>
          <p:cNvPr id="213" name="Google Shape;213;p21"/>
          <p:cNvPicPr preferRelativeResize="0"/>
          <p:nvPr/>
        </p:nvPicPr>
        <p:blipFill>
          <a:blip r:embed="rId3">
            <a:alphaModFix/>
          </a:blip>
          <a:stretch>
            <a:fillRect/>
          </a:stretch>
        </p:blipFill>
        <p:spPr>
          <a:xfrm>
            <a:off x="381000" y="1079500"/>
            <a:ext cx="4064001" cy="4064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2"/>
          <p:cNvSpPr txBox="1"/>
          <p:nvPr>
            <p:ph type="title"/>
          </p:nvPr>
        </p:nvSpPr>
        <p:spPr>
          <a:xfrm>
            <a:off x="1297500" y="393750"/>
            <a:ext cx="70389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2700">
                <a:solidFill>
                  <a:srgbClr val="FFFFFF"/>
                </a:solidFill>
              </a:rPr>
              <a:t>3. Notre algorithme sans IA</a:t>
            </a:r>
            <a:endParaRPr b="1" sz="2700">
              <a:solidFill>
                <a:srgbClr val="FFFFFF"/>
              </a:solidFill>
            </a:endParaRPr>
          </a:p>
        </p:txBody>
      </p:sp>
      <p:sp>
        <p:nvSpPr>
          <p:cNvPr id="219" name="Google Shape;219;p22"/>
          <p:cNvSpPr txBox="1"/>
          <p:nvPr>
            <p:ph idx="1" type="body"/>
          </p:nvPr>
        </p:nvSpPr>
        <p:spPr>
          <a:xfrm>
            <a:off x="698500" y="1524000"/>
            <a:ext cx="3619500" cy="33021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fr" sz="1600">
                <a:solidFill>
                  <a:srgbClr val="83C7A5"/>
                </a:solidFill>
              </a:rPr>
              <a:t>Principe</a:t>
            </a:r>
            <a:endParaRPr b="1" sz="1600">
              <a:solidFill>
                <a:srgbClr val="83C7A5"/>
              </a:solidFill>
            </a:endParaRPr>
          </a:p>
          <a:p>
            <a:pPr indent="0" lvl="0" marL="0" marR="0" rtl="0" algn="l">
              <a:lnSpc>
                <a:spcPct val="110000"/>
              </a:lnSpc>
              <a:spcBef>
                <a:spcPts val="400"/>
              </a:spcBef>
              <a:spcAft>
                <a:spcPts val="0"/>
              </a:spcAft>
              <a:buNone/>
            </a:pPr>
            <a:r>
              <a:rPr lang="fr" sz="1800"/>
              <a:t>Suivre les repères colorés et calculer les angles.</a:t>
            </a:r>
            <a:endParaRPr sz="1800"/>
          </a:p>
          <a:p>
            <a:pPr indent="0" lvl="0" marL="0" marR="0" rtl="0" algn="l">
              <a:lnSpc>
                <a:spcPct val="110000"/>
              </a:lnSpc>
              <a:spcBef>
                <a:spcPts val="1200"/>
              </a:spcBef>
              <a:spcAft>
                <a:spcPts val="0"/>
              </a:spcAft>
              <a:buNone/>
            </a:pPr>
            <a:r>
              <a:rPr b="1" lang="fr" sz="1600">
                <a:solidFill>
                  <a:srgbClr val="83C7A5"/>
                </a:solidFill>
              </a:rPr>
              <a:t>Atout attendu</a:t>
            </a:r>
            <a:endParaRPr b="1" sz="1600">
              <a:solidFill>
                <a:srgbClr val="83C7A5"/>
              </a:solidFill>
            </a:endParaRPr>
          </a:p>
          <a:p>
            <a:pPr indent="0" lvl="0" marL="0" marR="0" rtl="0" algn="l">
              <a:lnSpc>
                <a:spcPct val="110000"/>
              </a:lnSpc>
              <a:spcBef>
                <a:spcPts val="400"/>
              </a:spcBef>
              <a:spcAft>
                <a:spcPts val="0"/>
              </a:spcAft>
              <a:buNone/>
            </a:pPr>
            <a:r>
              <a:rPr lang="fr" sz="1800"/>
              <a:t>Des calculs explicables, sans entraînement.</a:t>
            </a:r>
            <a:endParaRPr sz="1800"/>
          </a:p>
          <a:p>
            <a:pPr indent="0" lvl="0" marL="0" marR="0" rtl="0" algn="l">
              <a:lnSpc>
                <a:spcPct val="110000"/>
              </a:lnSpc>
              <a:spcBef>
                <a:spcPts val="1200"/>
              </a:spcBef>
              <a:spcAft>
                <a:spcPts val="0"/>
              </a:spcAft>
              <a:buNone/>
            </a:pPr>
            <a:r>
              <a:rPr b="1" lang="fr" sz="1600">
                <a:solidFill>
                  <a:srgbClr val="83C7A5"/>
                </a:solidFill>
              </a:rPr>
              <a:t>À tester</a:t>
            </a:r>
            <a:endParaRPr b="1" sz="1600">
              <a:solidFill>
                <a:srgbClr val="83C7A5"/>
              </a:solidFill>
            </a:endParaRPr>
          </a:p>
          <a:p>
            <a:pPr indent="0" lvl="0" marL="0" marR="0" rtl="0" algn="l">
              <a:lnSpc>
                <a:spcPct val="110000"/>
              </a:lnSpc>
              <a:spcBef>
                <a:spcPts val="400"/>
              </a:spcBef>
              <a:spcAft>
                <a:spcPts val="1200"/>
              </a:spcAft>
              <a:buNone/>
            </a:pPr>
            <a:r>
              <a:rPr lang="fr" sz="1800"/>
              <a:t>Éclairage et repères masqués.</a:t>
            </a:r>
            <a:endParaRPr sz="1800"/>
          </a:p>
        </p:txBody>
      </p:sp>
      <p:pic>
        <p:nvPicPr>
          <p:cNvPr id="220" name="Google Shape;220;p22"/>
          <p:cNvPicPr preferRelativeResize="0"/>
          <p:nvPr/>
        </p:nvPicPr>
        <p:blipFill>
          <a:blip r:embed="rId3">
            <a:alphaModFix/>
          </a:blip>
          <a:stretch>
            <a:fillRect/>
          </a:stretch>
        </p:blipFill>
        <p:spPr>
          <a:xfrm>
            <a:off x="4800600" y="1066800"/>
            <a:ext cx="4064001" cy="4064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BA62"/>
        </a:solidFill>
      </p:bgPr>
    </p:bg>
    <p:spTree>
      <p:nvGrpSpPr>
        <p:cNvPr id="224" name="Shape 224"/>
        <p:cNvGrpSpPr/>
        <p:nvPr/>
      </p:nvGrpSpPr>
      <p:grpSpPr>
        <a:xfrm>
          <a:off x="0" y="0"/>
          <a:ext cx="0" cy="0"/>
          <a:chOff x="0" y="0"/>
          <a:chExt cx="0" cy="0"/>
        </a:xfrm>
      </p:grpSpPr>
      <p:sp>
        <p:nvSpPr>
          <p:cNvPr id="225" name="Google Shape;225;p23"/>
          <p:cNvSpPr txBox="1"/>
          <p:nvPr>
            <p:ph type="title"/>
          </p:nvPr>
        </p:nvSpPr>
        <p:spPr>
          <a:xfrm>
            <a:off x="571500" y="2476500"/>
            <a:ext cx="5778600" cy="1625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3800">
                <a:solidFill>
                  <a:srgbClr val="1C222B"/>
                </a:solidFill>
              </a:rPr>
              <a:t>Les essais</a:t>
            </a:r>
            <a:endParaRPr b="1" sz="3800">
              <a:solidFill>
                <a:srgbClr val="1C222B"/>
              </a:solidFill>
            </a:endParaRPr>
          </a:p>
          <a:p>
            <a:pPr indent="0" lvl="0" marL="0" rtl="0" algn="l">
              <a:spcBef>
                <a:spcPts val="0"/>
              </a:spcBef>
              <a:spcAft>
                <a:spcPts val="0"/>
              </a:spcAft>
              <a:buNone/>
            </a:pPr>
            <a:r>
              <a:rPr b="1" lang="fr" sz="3800">
                <a:solidFill>
                  <a:srgbClr val="1C222B"/>
                </a:solidFill>
              </a:rPr>
              <a:t>à mener</a:t>
            </a:r>
            <a:endParaRPr b="1" sz="3800">
              <a:solidFill>
                <a:srgbClr val="1C222B"/>
              </a:solidFill>
            </a:endParaRPr>
          </a:p>
        </p:txBody>
      </p:sp>
      <p:sp>
        <p:nvSpPr>
          <p:cNvPr id="226" name="Google Shape;226;p23"/>
          <p:cNvSpPr txBox="1"/>
          <p:nvPr/>
        </p:nvSpPr>
        <p:spPr>
          <a:xfrm>
            <a:off x="571500" y="609600"/>
            <a:ext cx="2857500" cy="172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0000">
                <a:solidFill>
                  <a:srgbClr val="1C222B"/>
                </a:solidFill>
                <a:latin typeface="Lato"/>
                <a:ea typeface="Lato"/>
                <a:cs typeface="Lato"/>
                <a:sym typeface="Lato"/>
              </a:rPr>
              <a:t>03</a:t>
            </a:r>
            <a:endParaRPr sz="10000">
              <a:solidFill>
                <a:srgbClr val="1C222B"/>
              </a:solidFill>
              <a:latin typeface="Lato"/>
              <a:ea typeface="Lato"/>
              <a:cs typeface="Lato"/>
              <a:sym typeface="Lato"/>
            </a:endParaRPr>
          </a:p>
        </p:txBody>
      </p:sp>
      <p:sp>
        <p:nvSpPr>
          <p:cNvPr id="227" name="Google Shape;227;p23"/>
          <p:cNvSpPr txBox="1"/>
          <p:nvPr/>
        </p:nvSpPr>
        <p:spPr>
          <a:xfrm>
            <a:off x="609600" y="4343400"/>
            <a:ext cx="54609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700">
                <a:solidFill>
                  <a:srgbClr val="1C222B"/>
                </a:solidFill>
                <a:latin typeface="Lato"/>
                <a:ea typeface="Lato"/>
                <a:cs typeface="Lato"/>
                <a:sym typeface="Lato"/>
              </a:rPr>
              <a:t>Un protocole commun pour comparer</a:t>
            </a:r>
            <a:endParaRPr sz="1700">
              <a:solidFill>
                <a:srgbClr val="1C222B"/>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4"/>
          <p:cNvSpPr txBox="1"/>
          <p:nvPr>
            <p:ph type="title"/>
          </p:nvPr>
        </p:nvSpPr>
        <p:spPr>
          <a:xfrm>
            <a:off x="1297500" y="393750"/>
            <a:ext cx="7038900" cy="91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fr" sz="2700">
                <a:solidFill>
                  <a:srgbClr val="FFFFFF"/>
                </a:solidFill>
              </a:rPr>
              <a:t>Comment comparer les solutions</a:t>
            </a:r>
            <a:endParaRPr b="1" sz="2700">
              <a:solidFill>
                <a:srgbClr val="FFFFFF"/>
              </a:solidFill>
            </a:endParaRPr>
          </a:p>
        </p:txBody>
      </p:sp>
      <p:sp>
        <p:nvSpPr>
          <p:cNvPr id="233" name="Google Shape;233;p24"/>
          <p:cNvSpPr txBox="1"/>
          <p:nvPr>
            <p:ph idx="1" type="body"/>
          </p:nvPr>
        </p:nvSpPr>
        <p:spPr>
          <a:xfrm>
            <a:off x="762000" y="1435100"/>
            <a:ext cx="7810500" cy="5715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1600"/>
              </a:spcAft>
              <a:buNone/>
            </a:pPr>
            <a:r>
              <a:rPr lang="fr" sz="2100">
                <a:solidFill>
                  <a:srgbClr val="CAD3DF"/>
                </a:solidFill>
              </a:rPr>
              <a:t>Même protocole, puis essais sur chaque source.</a:t>
            </a:r>
            <a:endParaRPr sz="2100">
              <a:solidFill>
                <a:srgbClr val="CAD3DF"/>
              </a:solidFill>
            </a:endParaRPr>
          </a:p>
        </p:txBody>
      </p:sp>
      <p:sp>
        <p:nvSpPr>
          <p:cNvPr id="234" name="Google Shape;234;p24"/>
          <p:cNvSpPr txBox="1"/>
          <p:nvPr/>
        </p:nvSpPr>
        <p:spPr>
          <a:xfrm>
            <a:off x="698500" y="2489200"/>
            <a:ext cx="27306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2700">
                <a:solidFill>
                  <a:srgbClr val="83C7A5"/>
                </a:solidFill>
                <a:latin typeface="Lato"/>
                <a:ea typeface="Lato"/>
                <a:cs typeface="Lato"/>
                <a:sym typeface="Lato"/>
              </a:rPr>
              <a:t>Précision</a:t>
            </a:r>
            <a:endParaRPr sz="2700">
              <a:solidFill>
                <a:srgbClr val="83C7A5"/>
              </a:solidFill>
              <a:latin typeface="Lato"/>
              <a:ea typeface="Lato"/>
              <a:cs typeface="Lato"/>
              <a:sym typeface="Lato"/>
            </a:endParaRPr>
          </a:p>
        </p:txBody>
      </p:sp>
      <p:sp>
        <p:nvSpPr>
          <p:cNvPr id="235" name="Google Shape;235;p24"/>
          <p:cNvSpPr txBox="1"/>
          <p:nvPr/>
        </p:nvSpPr>
        <p:spPr>
          <a:xfrm>
            <a:off x="698500" y="3162300"/>
            <a:ext cx="2667000" cy="9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rgbClr val="FFFFFF"/>
                </a:solidFill>
                <a:latin typeface="Lato"/>
                <a:ea typeface="Lato"/>
                <a:cs typeface="Lato"/>
                <a:sym typeface="Lato"/>
              </a:rPr>
              <a:t>Écart avec les</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annotations manuelles</a:t>
            </a:r>
            <a:endParaRPr sz="1800">
              <a:solidFill>
                <a:srgbClr val="FFFFFF"/>
              </a:solidFill>
              <a:latin typeface="Lato"/>
              <a:ea typeface="Lato"/>
              <a:cs typeface="Lato"/>
              <a:sym typeface="Lato"/>
            </a:endParaRPr>
          </a:p>
        </p:txBody>
      </p:sp>
      <p:sp>
        <p:nvSpPr>
          <p:cNvPr id="236" name="Google Shape;236;p24"/>
          <p:cNvSpPr txBox="1"/>
          <p:nvPr/>
        </p:nvSpPr>
        <p:spPr>
          <a:xfrm>
            <a:off x="3492500" y="2489200"/>
            <a:ext cx="27306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2700">
                <a:solidFill>
                  <a:srgbClr val="82A9FF"/>
                </a:solidFill>
                <a:latin typeface="Lato"/>
                <a:ea typeface="Lato"/>
                <a:cs typeface="Lato"/>
                <a:sym typeface="Lato"/>
              </a:rPr>
              <a:t>Stabilité</a:t>
            </a:r>
            <a:endParaRPr sz="2700">
              <a:solidFill>
                <a:srgbClr val="82A9FF"/>
              </a:solidFill>
              <a:latin typeface="Lato"/>
              <a:ea typeface="Lato"/>
              <a:cs typeface="Lato"/>
              <a:sym typeface="Lato"/>
            </a:endParaRPr>
          </a:p>
        </p:txBody>
      </p:sp>
      <p:sp>
        <p:nvSpPr>
          <p:cNvPr id="237" name="Google Shape;237;p24"/>
          <p:cNvSpPr txBox="1"/>
          <p:nvPr/>
        </p:nvSpPr>
        <p:spPr>
          <a:xfrm>
            <a:off x="3492500" y="3162300"/>
            <a:ext cx="2667000" cy="9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rgbClr val="FFFFFF"/>
                </a:solidFill>
                <a:latin typeface="Lato"/>
                <a:ea typeface="Lato"/>
                <a:cs typeface="Lato"/>
                <a:sym typeface="Lato"/>
              </a:rPr>
              <a:t>Tremblements et</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pertes de suivi</a:t>
            </a:r>
            <a:endParaRPr sz="1800">
              <a:solidFill>
                <a:srgbClr val="FFFFFF"/>
              </a:solidFill>
              <a:latin typeface="Lato"/>
              <a:ea typeface="Lato"/>
              <a:cs typeface="Lato"/>
              <a:sym typeface="Lato"/>
            </a:endParaRPr>
          </a:p>
        </p:txBody>
      </p:sp>
      <p:sp>
        <p:nvSpPr>
          <p:cNvPr id="238" name="Google Shape;238;p24"/>
          <p:cNvSpPr txBox="1"/>
          <p:nvPr/>
        </p:nvSpPr>
        <p:spPr>
          <a:xfrm>
            <a:off x="6286500" y="2489200"/>
            <a:ext cx="27306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2700">
                <a:solidFill>
                  <a:srgbClr val="F0BA62"/>
                </a:solidFill>
                <a:latin typeface="Lato"/>
                <a:ea typeface="Lato"/>
                <a:cs typeface="Lato"/>
                <a:sym typeface="Lato"/>
              </a:rPr>
              <a:t>Fluidité</a:t>
            </a:r>
            <a:endParaRPr sz="2700">
              <a:solidFill>
                <a:srgbClr val="F0BA62"/>
              </a:solidFill>
              <a:latin typeface="Lato"/>
              <a:ea typeface="Lato"/>
              <a:cs typeface="Lato"/>
              <a:sym typeface="Lato"/>
            </a:endParaRPr>
          </a:p>
        </p:txBody>
      </p:sp>
      <p:sp>
        <p:nvSpPr>
          <p:cNvPr id="239" name="Google Shape;239;p24"/>
          <p:cNvSpPr txBox="1"/>
          <p:nvPr/>
        </p:nvSpPr>
        <p:spPr>
          <a:xfrm>
            <a:off x="6286500" y="3162300"/>
            <a:ext cx="2667000" cy="9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800">
                <a:solidFill>
                  <a:srgbClr val="FFFFFF"/>
                </a:solidFill>
                <a:latin typeface="Lato"/>
                <a:ea typeface="Lato"/>
                <a:cs typeface="Lato"/>
                <a:sym typeface="Lato"/>
              </a:rPr>
              <a:t>Temps de calcul</a:t>
            </a:r>
            <a:endParaRPr sz="1800">
              <a:solidFill>
                <a:srgbClr val="FFFFFF"/>
              </a:solidFill>
              <a:latin typeface="Lato"/>
              <a:ea typeface="Lato"/>
              <a:cs typeface="Lato"/>
              <a:sym typeface="Lato"/>
            </a:endParaRPr>
          </a:p>
          <a:p>
            <a:pPr indent="0" lvl="0" marL="0" rtl="0" algn="l">
              <a:spcBef>
                <a:spcPts val="0"/>
              </a:spcBef>
              <a:spcAft>
                <a:spcPts val="0"/>
              </a:spcAft>
              <a:buNone/>
            </a:pPr>
            <a:r>
              <a:rPr lang="fr" sz="1800">
                <a:solidFill>
                  <a:srgbClr val="FFFFFF"/>
                </a:solidFill>
                <a:latin typeface="Lato"/>
                <a:ea typeface="Lato"/>
                <a:cs typeface="Lato"/>
                <a:sym typeface="Lato"/>
              </a:rPr>
              <a:t>par image</a:t>
            </a:r>
            <a:endParaRPr sz="1800">
              <a:solidFill>
                <a:srgbClr val="FFFFFF"/>
              </a:solidFill>
              <a:latin typeface="Lato"/>
              <a:ea typeface="Lato"/>
              <a:cs typeface="Lato"/>
              <a:sym typeface="Lato"/>
            </a:endParaRPr>
          </a:p>
        </p:txBody>
      </p:sp>
      <p:sp>
        <p:nvSpPr>
          <p:cNvPr id="240" name="Google Shape;240;p24"/>
          <p:cNvSpPr txBox="1"/>
          <p:nvPr/>
        </p:nvSpPr>
        <p:spPr>
          <a:xfrm>
            <a:off x="698500" y="4508500"/>
            <a:ext cx="7746900" cy="3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700">
                <a:solidFill>
                  <a:srgbClr val="CAD3DF"/>
                </a:solidFill>
                <a:latin typeface="Lato"/>
                <a:ea typeface="Lato"/>
                <a:cs typeface="Lato"/>
                <a:sym typeface="Lato"/>
              </a:rPr>
              <a:t>Comparer aussi le délai complet entre capture et retour utilisateur.</a:t>
            </a:r>
            <a:endParaRPr sz="1700">
              <a:solidFill>
                <a:srgbClr val="CAD3DF"/>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